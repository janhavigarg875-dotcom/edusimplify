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0" r:id="rId16"/>
    <p:sldId id="311" r:id="rId17"/>
    <p:sldId id="312" r:id="rId18"/>
    <p:sldId id="313" r:id="rId19"/>
    <p:sldId id="314" r:id="rId20"/>
    <p:sldId id="304" r:id="rId21"/>
    <p:sldId id="305" r:id="rId22"/>
    <p:sldId id="306" r:id="rId23"/>
    <p:sldId id="307" r:id="rId24"/>
    <p:sldId id="308" r:id="rId25"/>
    <p:sldId id="30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havigarg875-dotcom/EduSimplify.gi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dusimplify-8mdv.onrender.com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374712430"/>
              </p:ext>
            </p:extLst>
          </p:nvPr>
        </p:nvGraphicFramePr>
        <p:xfrm>
          <a:off x="1206162" y="2680142"/>
          <a:ext cx="10354467" cy="257765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59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9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0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76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005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Janhavi Garg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janhavigarg875@gmail.com/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gargjanhavi5@gmail.com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8982805243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/>
              <a:t>Education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10615724" cy="59524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 err="1"/>
              <a:t>EduSimplify</a:t>
            </a:r>
            <a:r>
              <a:rPr lang="en-US" sz="2400" dirty="0"/>
              <a:t>: AI-Powered Course Content Simplification Agent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6DDA2C-7893-2BEC-D7D2-52C74EA81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00" b="13809"/>
          <a:stretch>
            <a:fillRect/>
          </a:stretch>
        </p:blipFill>
        <p:spPr>
          <a:xfrm>
            <a:off x="4047066" y="3939885"/>
            <a:ext cx="982134" cy="117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47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: Course Content Simplification Agent</a:t>
            </a:r>
          </a:p>
          <a:p>
            <a:pPr fontAlgn="base"/>
            <a:endParaRPr lang="en-US" sz="2000" b="1" dirty="0"/>
          </a:p>
          <a:p>
            <a:pPr fontAlgn="base"/>
            <a:r>
              <a:rPr lang="en-US" sz="2000" b="1" dirty="0"/>
              <a:t>The Challenge</a:t>
            </a:r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Students often struggle with complex academic content, especially when technical terminology, long explanations, or language barriers make learning difficult.</a:t>
            </a:r>
          </a:p>
          <a:p>
            <a:pPr fontAlgn="base"/>
            <a:r>
              <a:rPr lang="en-US" dirty="0"/>
              <a:t>. </a:t>
            </a:r>
          </a:p>
          <a:p>
            <a:pPr fontAlgn="base"/>
            <a:endParaRPr lang="en-US" dirty="0"/>
          </a:p>
          <a:p>
            <a:pPr fontAlgn="base"/>
            <a:r>
              <a:rPr lang="en-US" sz="2000" b="1" dirty="0"/>
              <a:t>The Objective</a:t>
            </a:r>
            <a:r>
              <a:rPr lang="en-US" sz="2000" dirty="0"/>
              <a:t> 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rPr lang="en-US" sz="2000" dirty="0"/>
              <a:t>Build an AI agent that simplifies academic course content into clear, student-friendly explanations while supporting different difficulty levels and English/Hindi output.</a:t>
            </a:r>
          </a:p>
          <a:p>
            <a:pPr fontAlgn="base"/>
            <a:endParaRPr lang="en-US" dirty="0"/>
          </a:p>
          <a:p>
            <a:pPr fontAlgn="base"/>
            <a:r>
              <a:rPr lang="en-US" sz="2000" b="1" dirty="0"/>
              <a:t>Key needs</a:t>
            </a:r>
            <a:r>
              <a:rPr lang="en-US" sz="2000" dirty="0"/>
              <a:t>: simplified explanations, key points, important terms, examples, summaries and practice questions.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sz="2000" b="1" dirty="0"/>
              <a:t>Proposed Solution: </a:t>
            </a:r>
            <a:r>
              <a:rPr lang="en-US" sz="2000" b="1" dirty="0" err="1"/>
              <a:t>EduSimplify</a:t>
            </a:r>
            <a:endParaRPr lang="en-US" sz="2000" b="1" dirty="0"/>
          </a:p>
          <a:p>
            <a:endParaRPr lang="en-US" sz="2000" b="1" dirty="0"/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rPr lang="en-US" sz="2000" dirty="0" err="1"/>
              <a:t>EduSimplify</a:t>
            </a:r>
            <a:r>
              <a:rPr lang="en-US" sz="2000" dirty="0"/>
              <a:t> is an IBM Granite-powered learning assistant developed using IBM Bob.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endParaRPr lang="en-US" sz="2000" dirty="0"/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rPr lang="en-US" sz="2000" dirty="0"/>
              <a:t>The system accepts academic text and transforms it into an easier learning format based on the student's selected difficulty level and language.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endParaRPr lang="en-US" sz="2000" dirty="0"/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rPr lang="en-US" sz="2000" b="1" dirty="0"/>
              <a:t>Core workflow: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rPr lang="en-US" sz="2000" dirty="0"/>
              <a:t>Input academic content → Validate input → Prompt IBM Granite → Generate simplified explanation → Extract key points/terms → Add real-world example → Generate summary and practice questions → Display results.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71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700">
                <a:latin typeface="Arial"/>
              </a:defRPr>
            </a:pPr>
            <a:r>
              <a:rPr lang="en-IN" sz="2000" b="1" dirty="0"/>
              <a:t>IBM Bob </a:t>
            </a:r>
            <a:r>
              <a:rPr lang="en-IN" sz="1800" dirty="0"/>
              <a:t>– </a:t>
            </a:r>
            <a:r>
              <a:rPr lang="en-IN" sz="2000" dirty="0"/>
              <a:t>AI-assisted software development, project planning, implementation and testing.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700">
                <a:latin typeface="Arial"/>
              </a:defRPr>
            </a:pPr>
            <a:r>
              <a:rPr lang="en-IN" sz="2000" b="1" dirty="0"/>
              <a:t>IBM Granite 4 H Small </a:t>
            </a:r>
            <a:r>
              <a:rPr lang="en-IN" sz="2000" dirty="0"/>
              <a:t>– Core generative AI model for simplification, explanation, summarization and question generation.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700">
                <a:latin typeface="Arial"/>
              </a:defRPr>
            </a:pPr>
            <a:r>
              <a:rPr lang="en-IN" sz="2000" b="1" dirty="0"/>
              <a:t>IBM watsonx.ai </a:t>
            </a:r>
            <a:r>
              <a:rPr lang="en-IN" sz="2000" dirty="0"/>
              <a:t>– Model/API access and AI platform integration.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700">
                <a:latin typeface="Arial"/>
              </a:defRPr>
            </a:pPr>
            <a:r>
              <a:rPr lang="en-IN" sz="2000" b="1" dirty="0"/>
              <a:t>Python + </a:t>
            </a:r>
            <a:r>
              <a:rPr lang="en-IN" sz="2000" b="1" dirty="0" err="1"/>
              <a:t>FastAPI</a:t>
            </a:r>
            <a:r>
              <a:rPr lang="en-IN" sz="2000" b="1" dirty="0"/>
              <a:t>/Flask </a:t>
            </a:r>
            <a:r>
              <a:rPr lang="en-IN" sz="2000" dirty="0"/>
              <a:t>– Backend API layer (as implemented in the project).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700">
                <a:latin typeface="Arial"/>
              </a:defRPr>
            </a:pPr>
            <a:r>
              <a:rPr lang="en-IN" sz="2000" b="1" dirty="0"/>
              <a:t>HTML/CSS/JavaScript </a:t>
            </a:r>
            <a:r>
              <a:rPr lang="en-IN" sz="2000" dirty="0"/>
              <a:t>– Student-facing web interface.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700">
                <a:latin typeface="Arial"/>
              </a:defRPr>
            </a:pPr>
            <a:r>
              <a:rPr lang="en-IN" sz="2000" b="1" dirty="0"/>
              <a:t>Environment variables </a:t>
            </a:r>
            <a:r>
              <a:rPr lang="en-IN" sz="2000" dirty="0"/>
              <a:t>– Secure API-key configuration.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700">
                <a:latin typeface="Arial"/>
              </a:defRPr>
            </a:pPr>
            <a:r>
              <a:rPr lang="en-IN" sz="2000" b="1" dirty="0"/>
              <a:t>Git/GitHub </a:t>
            </a:r>
            <a:r>
              <a:rPr lang="en-IN" sz="2000" dirty="0"/>
              <a:t>– Version control and project submission.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B096E4-7970-08B7-4402-B4C063BC0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07" y="952051"/>
            <a:ext cx="10028385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C9F7C-6411-19CC-F7C0-700FE2E57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996994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257CCF-6CF9-6762-5038-E115BE369C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" b="683"/>
          <a:stretch>
            <a:fillRect/>
          </a:stretch>
        </p:blipFill>
        <p:spPr>
          <a:xfrm>
            <a:off x="811731" y="690612"/>
            <a:ext cx="10568538" cy="54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AB0781-FE92-6474-24C8-E1EF0B89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721" y="793404"/>
            <a:ext cx="5308512" cy="508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388402" y="305236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503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Agentic AI in Nutrition Agent</a:t>
            </a:r>
          </a:p>
          <a:p>
            <a:endParaRPr lang="en-US" sz="2000" b="1" dirty="0"/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rPr lang="en-US" sz="2000" dirty="0"/>
              <a:t>Agentic AI enables </a:t>
            </a:r>
            <a:r>
              <a:rPr lang="en-US" sz="2000" dirty="0" err="1"/>
              <a:t>EduSimplify</a:t>
            </a:r>
            <a:r>
              <a:rPr lang="en-US" sz="2000" dirty="0"/>
              <a:t> to go beyond a basic chatbot by coordinating multiple steps toward a learning goal.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endParaRPr lang="en-US" sz="2000" dirty="0"/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rPr lang="en-US" sz="2000" dirty="0"/>
              <a:t>The workflow can interpret the student's request, validate the input, select the requested language/difficulty, construct the appropriate prompt, call Granite, validate the response structure, and present the final learning material.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endParaRPr lang="en-US" sz="2000" dirty="0"/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rPr lang="en-US" sz="2000" dirty="0"/>
              <a:t>This makes the system goal-driven, reusable and easier to extend with features such as quizzes, topic history and additional languages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1100592" y="918567"/>
            <a:ext cx="7374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/>
              <a:t>Total token usage in IBM watsonx.ai project: </a:t>
            </a:r>
            <a:r>
              <a:rPr lang="en-IN" sz="1800" b="1" dirty="0"/>
              <a:t>201,281 Tokens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A0B959-7E14-9B8A-C61B-A0EAC399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924" y="1677810"/>
            <a:ext cx="9116380" cy="413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4217285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994445-1E8B-FF17-1DDE-25D2E02FF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1" y="1038638"/>
            <a:ext cx="10212083" cy="504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8DF6F6-B2E9-17BD-EBE8-81AE724CD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62" y="1168102"/>
            <a:ext cx="10012914" cy="496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7D526-2034-E644-FFDA-9F47D57F2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83" y="1059131"/>
            <a:ext cx="10428418" cy="51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D565C4-6AAC-B39B-A2C4-EE6D9469F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84" y="1048947"/>
            <a:ext cx="10428418" cy="51327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3A7682-03FD-F59B-F1A7-58CC353FB3B3}"/>
              </a:ext>
            </a:extLst>
          </p:cNvPr>
          <p:cNvSpPr txBox="1"/>
          <p:nvPr/>
        </p:nvSpPr>
        <p:spPr>
          <a:xfrm>
            <a:off x="609600" y="219698"/>
            <a:ext cx="6096000" cy="5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</a:p>
        </p:txBody>
      </p:sp>
    </p:spTree>
    <p:extLst>
      <p:ext uri="{BB962C8B-B14F-4D97-AF65-F5344CB8AC3E}">
        <p14:creationId xmlns:p14="http://schemas.microsoft.com/office/powerpoint/2010/main" val="1076973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073127-3591-DAD7-2524-F6AC604F2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82" y="1065210"/>
            <a:ext cx="10428419" cy="50716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6D4623-5C8A-532C-846D-62E11D6F610D}"/>
              </a:ext>
            </a:extLst>
          </p:cNvPr>
          <p:cNvSpPr txBox="1"/>
          <p:nvPr/>
        </p:nvSpPr>
        <p:spPr>
          <a:xfrm>
            <a:off x="772982" y="174283"/>
            <a:ext cx="6096000" cy="5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</a:p>
        </p:txBody>
      </p:sp>
    </p:spTree>
    <p:extLst>
      <p:ext uri="{BB962C8B-B14F-4D97-AF65-F5344CB8AC3E}">
        <p14:creationId xmlns:p14="http://schemas.microsoft.com/office/powerpoint/2010/main" val="3461953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9EC309-FA0A-8E88-9F5F-637961455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9" y="980780"/>
            <a:ext cx="10689772" cy="5240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D24E6B-2E5C-2628-9E48-E75053005237}"/>
              </a:ext>
            </a:extLst>
          </p:cNvPr>
          <p:cNvSpPr txBox="1"/>
          <p:nvPr/>
        </p:nvSpPr>
        <p:spPr>
          <a:xfrm>
            <a:off x="228600" y="174283"/>
            <a:ext cx="6096000" cy="5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</a:p>
        </p:txBody>
      </p:sp>
    </p:spTree>
    <p:extLst>
      <p:ext uri="{BB962C8B-B14F-4D97-AF65-F5344CB8AC3E}">
        <p14:creationId xmlns:p14="http://schemas.microsoft.com/office/powerpoint/2010/main" val="2873211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3ECBB8-9FDD-4A26-2498-40E2AF0F6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8" y="1011424"/>
            <a:ext cx="10689773" cy="5156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798C1D-243A-2B64-610D-6F154982903E}"/>
              </a:ext>
            </a:extLst>
          </p:cNvPr>
          <p:cNvSpPr txBox="1"/>
          <p:nvPr/>
        </p:nvSpPr>
        <p:spPr>
          <a:xfrm>
            <a:off x="293915" y="82361"/>
            <a:ext cx="6096000" cy="5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</a:p>
        </p:txBody>
      </p:sp>
    </p:spTree>
    <p:extLst>
      <p:ext uri="{BB962C8B-B14F-4D97-AF65-F5344CB8AC3E}">
        <p14:creationId xmlns:p14="http://schemas.microsoft.com/office/powerpoint/2010/main" val="1167071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1DFAC3-5253-85FE-87BF-EAE6DECB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8" y="984628"/>
            <a:ext cx="10689774" cy="5261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04647D-7C8B-C2C5-0F88-C18519BB41F9}"/>
              </a:ext>
            </a:extLst>
          </p:cNvPr>
          <p:cNvSpPr txBox="1"/>
          <p:nvPr/>
        </p:nvSpPr>
        <p:spPr>
          <a:xfrm>
            <a:off x="381000" y="145707"/>
            <a:ext cx="6096000" cy="5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</a:p>
        </p:txBody>
      </p:sp>
    </p:spTree>
    <p:extLst>
      <p:ext uri="{BB962C8B-B14F-4D97-AF65-F5344CB8AC3E}">
        <p14:creationId xmlns:p14="http://schemas.microsoft.com/office/powerpoint/2010/main" val="2785090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506403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33698" y="1261437"/>
            <a:ext cx="9618616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700">
                <a:latin typeface="Arial"/>
              </a:defRPr>
            </a:pPr>
            <a:r>
              <a:rPr lang="en-US" sz="2000" b="1" dirty="0" err="1"/>
              <a:t>EduSimplify</a:t>
            </a:r>
            <a:r>
              <a:rPr lang="en-US" sz="2000" b="1" dirty="0"/>
              <a:t> combines academic simplification with personalized learning controls.</a:t>
            </a:r>
          </a:p>
          <a:p>
            <a:pPr>
              <a:spcAft>
                <a:spcPts val="800"/>
              </a:spcAft>
              <a:defRPr sz="1700">
                <a:latin typeface="Arial"/>
              </a:defRPr>
            </a:pPr>
            <a:endParaRPr lang="en-US" sz="2000" dirty="0"/>
          </a:p>
          <a:p>
            <a:pPr algn="just">
              <a:spcAft>
                <a:spcPts val="800"/>
              </a:spcAft>
              <a:defRPr sz="1700">
                <a:latin typeface="Arial"/>
              </a:defRPr>
            </a:pPr>
            <a:r>
              <a:rPr lang="en-US" sz="2000" dirty="0"/>
              <a:t>• </a:t>
            </a:r>
            <a:r>
              <a:rPr lang="en-US" sz="2000" b="1" dirty="0"/>
              <a:t>Difficulty-aware output </a:t>
            </a:r>
            <a:r>
              <a:rPr lang="en-US" sz="2000" dirty="0"/>
              <a:t>– Beginner, Intermediate and Advanced</a:t>
            </a:r>
          </a:p>
          <a:p>
            <a:pPr algn="just">
              <a:spcAft>
                <a:spcPts val="800"/>
              </a:spcAft>
              <a:defRPr sz="1700">
                <a:latin typeface="Arial"/>
              </a:defRPr>
            </a:pPr>
            <a:r>
              <a:rPr lang="en-US" sz="2000" dirty="0"/>
              <a:t>• </a:t>
            </a:r>
            <a:r>
              <a:rPr lang="en-US" sz="2000" b="1" dirty="0"/>
              <a:t>Multilingual learning </a:t>
            </a:r>
            <a:r>
              <a:rPr lang="en-US" sz="2000" dirty="0"/>
              <a:t>– English and Hindi</a:t>
            </a:r>
          </a:p>
          <a:p>
            <a:pPr algn="just">
              <a:spcAft>
                <a:spcPts val="800"/>
              </a:spcAft>
              <a:defRPr sz="1700">
                <a:latin typeface="Arial"/>
              </a:defRPr>
            </a:pPr>
            <a:r>
              <a:rPr lang="en-US" sz="2000" dirty="0"/>
              <a:t>• </a:t>
            </a:r>
            <a:r>
              <a:rPr lang="en-US" sz="2000" b="1" dirty="0"/>
              <a:t>Structured learning response </a:t>
            </a:r>
            <a:r>
              <a:rPr lang="en-US" sz="2000" dirty="0"/>
              <a:t>– explanation, key points, terms, example, summary and questions</a:t>
            </a:r>
          </a:p>
          <a:p>
            <a:pPr algn="just">
              <a:spcAft>
                <a:spcPts val="800"/>
              </a:spcAft>
              <a:defRPr sz="1700">
                <a:latin typeface="Arial"/>
              </a:defRPr>
            </a:pPr>
            <a:r>
              <a:rPr lang="en-US" sz="2000" dirty="0"/>
              <a:t>• </a:t>
            </a:r>
            <a:r>
              <a:rPr lang="en-US" sz="2000" b="1" dirty="0"/>
              <a:t>Technical-subject friendly </a:t>
            </a:r>
            <a:r>
              <a:rPr lang="en-US" sz="2000" dirty="0"/>
              <a:t>– suitable for DBMS, DSA, C++, Python and other course topics</a:t>
            </a:r>
          </a:p>
          <a:p>
            <a:pPr algn="just">
              <a:spcAft>
                <a:spcPts val="800"/>
              </a:spcAft>
              <a:defRPr sz="1700">
                <a:latin typeface="Arial"/>
              </a:defRPr>
            </a:pPr>
            <a:r>
              <a:rPr lang="en-US" sz="2000" dirty="0"/>
              <a:t>• </a:t>
            </a:r>
            <a:r>
              <a:rPr lang="en-US" sz="2000" b="1" dirty="0"/>
              <a:t>IBM Granite integration </a:t>
            </a:r>
            <a:r>
              <a:rPr lang="en-US" sz="2000" dirty="0"/>
              <a:t>– real generative AI rather than a static response system</a:t>
            </a:r>
          </a:p>
          <a:p>
            <a:pPr algn="just">
              <a:spcAft>
                <a:spcPts val="800"/>
              </a:spcAft>
              <a:defRPr sz="1700">
                <a:latin typeface="Arial"/>
              </a:defRPr>
            </a:pPr>
            <a:r>
              <a:rPr lang="en-US" sz="2000" dirty="0"/>
              <a:t>• </a:t>
            </a:r>
            <a:r>
              <a:rPr lang="en-US" sz="2000" b="1" dirty="0"/>
              <a:t>Agentic workflow </a:t>
            </a:r>
            <a:r>
              <a:rPr lang="en-US" sz="2000" dirty="0"/>
              <a:t>– multiple reasoning/processing steps toward a learning goal</a:t>
            </a:r>
          </a:p>
          <a:p>
            <a:pPr algn="just">
              <a:spcAft>
                <a:spcPts val="800"/>
              </a:spcAft>
              <a:defRPr sz="1700">
                <a:latin typeface="Arial"/>
              </a:defRPr>
            </a:pPr>
            <a:r>
              <a:rPr lang="en-US" sz="2000" dirty="0"/>
              <a:t>• </a:t>
            </a:r>
            <a:r>
              <a:rPr lang="en-US" sz="2000" b="1" dirty="0"/>
              <a:t>Extensible architecture </a:t>
            </a:r>
            <a:r>
              <a:rPr lang="en-US" sz="2000" dirty="0"/>
              <a:t>– ready for future quiz, PDF and additional-language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https://github.com/janhavigarg875-dotcom/EduSimplify.git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Render URL-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https://edusimplify-8mdv.onrender.com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2306E3-5F94-C038-E2E6-A0FAED768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839321"/>
              </p:ext>
            </p:extLst>
          </p:nvPr>
        </p:nvGraphicFramePr>
        <p:xfrm>
          <a:off x="1218723" y="2317391"/>
          <a:ext cx="9997145" cy="3962400"/>
        </p:xfrm>
        <a:graphic>
          <a:graphicData uri="http://schemas.openxmlformats.org/drawingml/2006/table">
            <a:tbl>
              <a:tblPr firstRow="1"/>
              <a:tblGrid>
                <a:gridCol w="4207875">
                  <a:extLst>
                    <a:ext uri="{9D8B030D-6E8A-4147-A177-3AD203B41FA5}">
                      <a16:colId xmlns:a16="http://schemas.microsoft.com/office/drawing/2014/main" val="1269865770"/>
                    </a:ext>
                  </a:extLst>
                </a:gridCol>
                <a:gridCol w="5789270">
                  <a:extLst>
                    <a:ext uri="{9D8B030D-6E8A-4147-A177-3AD203B41FA5}">
                      <a16:colId xmlns:a16="http://schemas.microsoft.com/office/drawing/2014/main" val="1649422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1D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5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885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app.py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 file that runs the application.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88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routes/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API routes.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30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services/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AI and application logic.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812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tests/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application testing files.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26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static/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static project resources.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314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requirements.txt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Lists required Python libraries.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429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README.md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Provides project overview and setup details.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375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Dockerfile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Defines Docker deployment setup.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481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render.yaml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Render deployment configuration.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60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EduSimplifyAI_Presentation.pptx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project PPT presentation.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404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EduSimplify.pdf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project Comprehensive Feature &amp; Functionality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799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SB4UniversityEngagement_AI...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the project problem statement/reference.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423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754552" cy="502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latin typeface="Arial"/>
              </a:defRPr>
            </a:pPr>
            <a:r>
              <a:rPr lang="en-US" sz="2000" b="1" dirty="0"/>
              <a:t>PDF / document-based learning </a:t>
            </a:r>
            <a:r>
              <a:rPr lang="en-US" sz="2000" dirty="0"/>
              <a:t>– upload notes or course material for simplification.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latin typeface="Arial"/>
              </a:defRPr>
            </a:pPr>
            <a:r>
              <a:rPr lang="en-US" sz="2000" dirty="0"/>
              <a:t> </a:t>
            </a:r>
            <a:r>
              <a:rPr lang="en-US" sz="2000" b="1" dirty="0"/>
              <a:t>More Indian languages </a:t>
            </a:r>
            <a:r>
              <a:rPr lang="en-US" sz="2000" dirty="0"/>
              <a:t>– extend beyond English and Hindi.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latin typeface="Arial"/>
              </a:defRPr>
            </a:pPr>
            <a:r>
              <a:rPr lang="en-US" sz="2000" b="1" dirty="0"/>
              <a:t>Interactive quiz mode </a:t>
            </a:r>
            <a:r>
              <a:rPr lang="en-US" sz="2000" dirty="0"/>
              <a:t>– generate quizzes from the simplified content and track scores.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latin typeface="Arial"/>
              </a:defRPr>
            </a:pPr>
            <a:r>
              <a:rPr lang="en-US" sz="2000" b="1" dirty="0"/>
              <a:t>Learning history </a:t>
            </a:r>
            <a:r>
              <a:rPr lang="en-US" sz="2000" dirty="0"/>
              <a:t>– save topics and allow students to revisit previous explanations.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latin typeface="Arial"/>
              </a:defRPr>
            </a:pPr>
            <a:r>
              <a:rPr lang="en-US" sz="2000" b="1" dirty="0"/>
              <a:t>Subject-specific modes </a:t>
            </a:r>
            <a:r>
              <a:rPr lang="en-US" sz="2000" dirty="0"/>
              <a:t>– specialized prompts for DBMS, programming, mathematics and other subjects.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latin typeface="Arial"/>
              </a:defRPr>
            </a:pPr>
            <a:r>
              <a:rPr lang="en-US" sz="2000" b="1" dirty="0"/>
              <a:t>Voice-based learning </a:t>
            </a:r>
            <a:r>
              <a:rPr lang="en-US" sz="2000" dirty="0"/>
              <a:t>– add speech input/output for accessibility.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71111-15DC-B3BE-381E-81504C490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438" y="884488"/>
            <a:ext cx="7283824" cy="545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lang="en-US"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53748-7F4F-59BD-F920-639DA5839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75278" y="-402773"/>
            <a:ext cx="4714876" cy="766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829</Words>
  <Application>Microsoft Office PowerPoint</Application>
  <PresentationFormat>Widescreen</PresentationFormat>
  <Paragraphs>131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Pandey, Rishabh</cp:lastModifiedBy>
  <cp:revision>18</cp:revision>
  <dcterms:created xsi:type="dcterms:W3CDTF">2025-07-08T05:06:56Z</dcterms:created>
  <dcterms:modified xsi:type="dcterms:W3CDTF">2026-09-09T21:32:01Z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2026-09-09T19:11:54Z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3bd04316-651a-45bb-a98d-ab41e218d7d4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